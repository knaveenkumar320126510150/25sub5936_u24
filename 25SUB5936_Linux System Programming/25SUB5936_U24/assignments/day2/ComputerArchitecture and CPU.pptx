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82C360-C364-42DC-9EB0-F204BB209733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180DC-5E72-4504-BFE8-0473C46D0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533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8180DC-5E72-4504-BFE8-0473C46D03D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711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333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229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900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0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655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218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58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10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553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33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5950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122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26513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2347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292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041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203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CF40C-00C9-E567-EA98-DCB7981ED6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Understanding Computer Architecture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1BD7B17-4A9F-000F-3FF8-B42E32B53C8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76424" y="3768200"/>
            <a:ext cx="1009926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of how computer hardware is designed and how it executes programs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Explains interaction between CPU, memory, and input/output devices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 for system design, performance optimization, and efficient software development </a:t>
            </a:r>
          </a:p>
        </p:txBody>
      </p:sp>
    </p:spTree>
    <p:extLst>
      <p:ext uri="{BB962C8B-B14F-4D97-AF65-F5344CB8AC3E}">
        <p14:creationId xmlns:p14="http://schemas.microsoft.com/office/powerpoint/2010/main" val="636154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FEDDDB-2AC5-513A-06B1-B8C4C8D671D9}"/>
              </a:ext>
            </a:extLst>
          </p:cNvPr>
          <p:cNvSpPr txBox="1"/>
          <p:nvPr/>
        </p:nvSpPr>
        <p:spPr>
          <a:xfrm>
            <a:off x="1585451" y="0"/>
            <a:ext cx="61009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Introduction</a:t>
            </a:r>
            <a:r>
              <a:rPr lang="en-IN" sz="2800" dirty="0"/>
              <a:t> to Computer Architecture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35BFF3-FCF0-2C59-FE18-15B7D9A37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883" y="2448231"/>
            <a:ext cx="6762750" cy="4077257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FBEAF6F8-2911-279C-6071-61C9FD41C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67" y="1015663"/>
            <a:ext cx="1019061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architecture refers to the logical design and operational structure of a computer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defines how hardware components communicate with each other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on instruction execution, memory organization, and data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Determines system efficiency and computational capability </a:t>
            </a:r>
          </a:p>
        </p:txBody>
      </p:sp>
    </p:spTree>
    <p:extLst>
      <p:ext uri="{BB962C8B-B14F-4D97-AF65-F5344CB8AC3E}">
        <p14:creationId xmlns:p14="http://schemas.microsoft.com/office/powerpoint/2010/main" val="4130745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85BF2-C73E-0406-D2BB-312C5EAA6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 of Computer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A7B802-F5E4-9C2B-B301-EC28E0B6DD6F}"/>
              </a:ext>
            </a:extLst>
          </p:cNvPr>
          <p:cNvSpPr txBox="1"/>
          <p:nvPr/>
        </p:nvSpPr>
        <p:spPr>
          <a:xfrm>
            <a:off x="1054510" y="1879261"/>
            <a:ext cx="6100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Computer architecture includes CPU design, memory hierarchy, and I/O systems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E16CEF-DFD6-57D9-8E7D-176046E6D5A7}"/>
              </a:ext>
            </a:extLst>
          </p:cNvPr>
          <p:cNvSpPr txBox="1"/>
          <p:nvPr/>
        </p:nvSpPr>
        <p:spPr>
          <a:xfrm>
            <a:off x="1054510" y="2525592"/>
            <a:ext cx="6100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 determines how instructions are fetched, decoded, and executed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CC8A2C-D6B0-B98D-013A-4ACC42CC66CE}"/>
              </a:ext>
            </a:extLst>
          </p:cNvPr>
          <p:cNvSpPr txBox="1"/>
          <p:nvPr/>
        </p:nvSpPr>
        <p:spPr>
          <a:xfrm>
            <a:off x="1054510" y="3277261"/>
            <a:ext cx="6100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 includes both hardware organization and performance optimization techniques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BE19EE-1AD9-C510-5C75-EF2DEF664C46}"/>
              </a:ext>
            </a:extLst>
          </p:cNvPr>
          <p:cNvSpPr txBox="1"/>
          <p:nvPr/>
        </p:nvSpPr>
        <p:spPr>
          <a:xfrm>
            <a:off x="1054510" y="4093859"/>
            <a:ext cx="6100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Modern architectures focus on parallel processing and energy efficiency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4676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903A5-A0A7-9C5F-08DF-9F379CBC7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Importance in Software Development</a:t>
            </a:r>
            <a:br>
              <a:rPr lang="en-IN" b="1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34EAC7-146D-C78D-DCF8-866C0ECC35F7}"/>
              </a:ext>
            </a:extLst>
          </p:cNvPr>
          <p:cNvSpPr txBox="1"/>
          <p:nvPr/>
        </p:nvSpPr>
        <p:spPr>
          <a:xfrm>
            <a:off x="1064342" y="1727756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Helps programmers understand how code runs on hardware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28D886-02A5-2F67-13EE-2ED28D86717A}"/>
              </a:ext>
            </a:extLst>
          </p:cNvPr>
          <p:cNvSpPr txBox="1"/>
          <p:nvPr/>
        </p:nvSpPr>
        <p:spPr>
          <a:xfrm>
            <a:off x="1064342" y="2213558"/>
            <a:ext cx="6100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Enables writing optimized programs that use CPU and memory efficiently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BBB939-1CCB-230E-EC02-8218FC4DFC82}"/>
              </a:ext>
            </a:extLst>
          </p:cNvPr>
          <p:cNvSpPr txBox="1"/>
          <p:nvPr/>
        </p:nvSpPr>
        <p:spPr>
          <a:xfrm>
            <a:off x="1064342" y="2976359"/>
            <a:ext cx="6100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Important in operating systems, compilers, and embedded systems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6B987E-6622-AA7A-54A9-F03668FD716B}"/>
              </a:ext>
            </a:extLst>
          </p:cNvPr>
          <p:cNvSpPr txBox="1"/>
          <p:nvPr/>
        </p:nvSpPr>
        <p:spPr>
          <a:xfrm>
            <a:off x="1064342" y="3739160"/>
            <a:ext cx="6100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Knowledge of architecture helps reduce latency and improve execution speed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1545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D2CE8-664D-0442-35AF-9575D5D93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903" y="0"/>
            <a:ext cx="9905998" cy="1752959"/>
          </a:xfrm>
        </p:spPr>
        <p:txBody>
          <a:bodyPr/>
          <a:lstStyle/>
          <a:p>
            <a:r>
              <a:rPr lang="en-IN" dirty="0"/>
              <a:t>Basic Terminology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75BCD2-DF22-E1FE-AA18-3A37E90C0F72}"/>
              </a:ext>
            </a:extLst>
          </p:cNvPr>
          <p:cNvSpPr txBox="1"/>
          <p:nvPr/>
        </p:nvSpPr>
        <p:spPr>
          <a:xfrm>
            <a:off x="1229903" y="1001262"/>
            <a:ext cx="61009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CPU – Central Processing Unit responsible for executing instructions ALU – Arithmetic Logic Unit that performs arithmetic and logical operations Registers – Small high‑speed storage locations inside the CPU Cache Memory – Fast memory used to store frequently accessed data Main Memory (RAM) – Primary memory used to store active programs and data Instruction Set – Set of commands a processor can understand and execute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B322E2-1A9C-2DEC-6B06-7B7415A17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810" y="3561254"/>
            <a:ext cx="6988616" cy="279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43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51506-ABCE-ACED-EFA5-427722388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r>
              <a:rPr lang="en-US" dirty="0"/>
              <a:t>Historical Development of Computer Architectures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D0237E-A1BE-5A92-C415-E753B5817C38}"/>
              </a:ext>
            </a:extLst>
          </p:cNvPr>
          <p:cNvSpPr txBox="1"/>
          <p:nvPr/>
        </p:nvSpPr>
        <p:spPr>
          <a:xfrm>
            <a:off x="1143001" y="1478570"/>
            <a:ext cx="6100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First Generation (1940s–1950s): Vacuum tubes used for processing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3759E0-12C1-B6A1-F611-A64A396C81A6}"/>
              </a:ext>
            </a:extLst>
          </p:cNvPr>
          <p:cNvSpPr txBox="1"/>
          <p:nvPr/>
        </p:nvSpPr>
        <p:spPr>
          <a:xfrm>
            <a:off x="1143001" y="2223390"/>
            <a:ext cx="6100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Second Generation (1950s–1960s): Transistors replaced vacuum tubes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A65F5B-DDF1-A63D-48D3-C0296A819848}"/>
              </a:ext>
            </a:extLst>
          </p:cNvPr>
          <p:cNvSpPr txBox="1"/>
          <p:nvPr/>
        </p:nvSpPr>
        <p:spPr>
          <a:xfrm>
            <a:off x="1143001" y="3105834"/>
            <a:ext cx="6100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Third Generation (1960s–1970s): Integrated circuits increased reliability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D07F80-FA0A-ED12-3EAA-6D5D0478C7C7}"/>
              </a:ext>
            </a:extLst>
          </p:cNvPr>
          <p:cNvSpPr txBox="1"/>
          <p:nvPr/>
        </p:nvSpPr>
        <p:spPr>
          <a:xfrm>
            <a:off x="1143001" y="3988278"/>
            <a:ext cx="6100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Fourth Generation (1970s–present): Microprocessors and personal computers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3CF948-47E2-AAB5-6AA4-53B39DB90428}"/>
              </a:ext>
            </a:extLst>
          </p:cNvPr>
          <p:cNvSpPr txBox="1"/>
          <p:nvPr/>
        </p:nvSpPr>
        <p:spPr>
          <a:xfrm>
            <a:off x="1143001" y="4870722"/>
            <a:ext cx="6100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Modern systems: Multi‑core processors, GPUs, and cloud computing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8948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524C2-73C7-F8B1-70A1-608C1904F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401" y="0"/>
            <a:ext cx="9905998" cy="1478570"/>
          </a:xfrm>
        </p:spPr>
        <p:txBody>
          <a:bodyPr/>
          <a:lstStyle/>
          <a:p>
            <a:r>
              <a:rPr lang="en-IN" dirty="0"/>
              <a:t>RISC vs CISC Architectures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6DCD88-900D-4F99-944C-4C7D5DBCBA6F}"/>
              </a:ext>
            </a:extLst>
          </p:cNvPr>
          <p:cNvSpPr txBox="1"/>
          <p:nvPr/>
        </p:nvSpPr>
        <p:spPr>
          <a:xfrm>
            <a:off x="2173145" y="1198291"/>
            <a:ext cx="61009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RISC (Reduced Instruction Set Computer):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Uses simple instructions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Executes instructions in fewer clock cycles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Easier pipeline implementation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Example: ARM processors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3B4413-CC93-7373-218F-D9ED00FBAE71}"/>
              </a:ext>
            </a:extLst>
          </p:cNvPr>
          <p:cNvSpPr txBox="1"/>
          <p:nvPr/>
        </p:nvSpPr>
        <p:spPr>
          <a:xfrm>
            <a:off x="2173145" y="3469051"/>
            <a:ext cx="61009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CISC (Complex Instruction Set Computer):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 number of complex instructions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Instructions can perform multiple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number of instructions per program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x86 processors</a:t>
            </a:r>
          </a:p>
        </p:txBody>
      </p:sp>
    </p:spTree>
    <p:extLst>
      <p:ext uri="{BB962C8B-B14F-4D97-AF65-F5344CB8AC3E}">
        <p14:creationId xmlns:p14="http://schemas.microsoft.com/office/powerpoint/2010/main" val="3461645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E544BC-874B-FE73-E79A-695ABFD38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158" y="1117600"/>
            <a:ext cx="7233447" cy="379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461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36A6C-4FDA-D445-582E-D0B84AA54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071" y="77744"/>
            <a:ext cx="9905998" cy="1478570"/>
          </a:xfrm>
        </p:spPr>
        <p:txBody>
          <a:bodyPr/>
          <a:lstStyle/>
          <a:p>
            <a:r>
              <a:rPr lang="en-IN" b="1" dirty="0"/>
              <a:t>Pipeline Processing</a:t>
            </a:r>
            <a:br>
              <a:rPr lang="en-IN" b="1" dirty="0"/>
            </a:br>
            <a:endParaRPr lang="en-IN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2D467C9-347C-CB45-4616-E17B1705E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542" y="126836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Technique used to improve CPU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multiple instruction stages to execute simultaneously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Similar to an assembly line in manufacturing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B9C43C-04A9-ED21-61D5-B48C5235ABA9}"/>
              </a:ext>
            </a:extLst>
          </p:cNvPr>
          <p:cNvSpPr txBox="1"/>
          <p:nvPr/>
        </p:nvSpPr>
        <p:spPr>
          <a:xfrm>
            <a:off x="1135626" y="1674674"/>
            <a:ext cx="61009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Pipeline stages:</a:t>
            </a:r>
          </a:p>
          <a:p>
            <a:pPr>
              <a:buFont typeface="+mj-lt"/>
              <a:buAutoNum type="arabicPeriod"/>
            </a:pPr>
            <a:r>
              <a:rPr lang="en-US" dirty="0"/>
              <a:t>Instruction Fetch</a:t>
            </a:r>
          </a:p>
          <a:p>
            <a:pPr>
              <a:buFont typeface="+mj-lt"/>
              <a:buAutoNum type="arabicPeriod"/>
            </a:pPr>
            <a:r>
              <a:rPr lang="en-US" dirty="0"/>
              <a:t>Instruction Decode</a:t>
            </a:r>
          </a:p>
          <a:p>
            <a:pPr>
              <a:buFont typeface="+mj-lt"/>
              <a:buAutoNum type="arabicPeriod"/>
            </a:pPr>
            <a:r>
              <a:rPr lang="en-US" dirty="0"/>
              <a:t>Execute</a:t>
            </a:r>
          </a:p>
          <a:p>
            <a:pPr>
              <a:buFont typeface="+mj-lt"/>
              <a:buAutoNum type="arabicPeriod"/>
            </a:pPr>
            <a:r>
              <a:rPr lang="en-US" dirty="0"/>
              <a:t>Memory Access</a:t>
            </a:r>
          </a:p>
          <a:p>
            <a:pPr>
              <a:buFont typeface="+mj-lt"/>
              <a:buAutoNum type="arabicPeriod"/>
            </a:pPr>
            <a:r>
              <a:rPr lang="en-US" dirty="0"/>
              <a:t>Write Back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ED742E-0078-268C-135E-DBE322862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304" y="3429000"/>
            <a:ext cx="6685936" cy="331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207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01CD0-7AF4-A9D3-3802-BF41A8301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7241"/>
            <a:ext cx="9905998" cy="1478570"/>
          </a:xfrm>
        </p:spPr>
        <p:txBody>
          <a:bodyPr/>
          <a:lstStyle/>
          <a:p>
            <a:r>
              <a:rPr lang="en-US" b="1" dirty="0"/>
              <a:t>Computer Arithmetic and ALU Design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30593AB-E6C4-0DDB-F681-61D2FBD71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14748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ALU performs arithmetic operations such as addition, subtraction, multiplication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Also performs logical operations like AND, OR, XOR, and comparisons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closely with registers and control unit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Essential for mathematical calculations and decision making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084513-1B76-186C-1C03-378589024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639" y="2266335"/>
            <a:ext cx="7639664" cy="380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758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01743-B94E-2E49-B351-7A8F8D6D6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890" y="1"/>
            <a:ext cx="9905998" cy="1838632"/>
          </a:xfrm>
        </p:spPr>
        <p:txBody>
          <a:bodyPr/>
          <a:lstStyle/>
          <a:p>
            <a:r>
              <a:rPr lang="en-US" b="1" dirty="0"/>
              <a:t>Virtual Memory and Paging Systems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BA4F996-386E-7F47-2A96-4D6FBC8B1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7890" y="16026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Virtual memory allows a system to run large programs even with limited RAM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disk storage as an extension of main memory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Paging divides memory into fixed size blocks called pages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memory management and supports multitasking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7CEF05-628E-191C-90F5-A31CD5D29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808" y="2459139"/>
            <a:ext cx="8213469" cy="379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49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DED57-2D28-A399-40AB-011A8D93C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2097088"/>
          </a:xfrm>
        </p:spPr>
        <p:txBody>
          <a:bodyPr/>
          <a:lstStyle/>
          <a:p>
            <a:r>
              <a:rPr lang="en-IN" b="1" dirty="0"/>
              <a:t>Benchmarking and Performance Metrics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E85B0C4-B9C5-6E1A-DD1D-FC5CC3A60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3" y="1081425"/>
            <a:ext cx="710002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Benchmarking measures system performance using standard tests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 include: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CPU Clock Cycles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Instructions Per Second (IPS)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compare processors and optimize system performance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94C287-841B-45F0-091F-54DDB80D08FF}"/>
                  </a:ext>
                </a:extLst>
              </p:cNvPr>
              <p:cNvSpPr txBox="1"/>
              <p:nvPr/>
            </p:nvSpPr>
            <p:spPr>
              <a:xfrm>
                <a:off x="1141413" y="3270354"/>
                <a:ext cx="6100916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Formula: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𝐶𝑃𝑈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𝐼𝑛𝑠𝑡𝑟𝑢𝑐𝑡𝑖𝑜𝑛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𝐶𝑃𝐼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𝐶𝑙𝑜𝑐𝑘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𝐶𝑦𝑐𝑙𝑒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𝑇𝑖𝑚𝑒</m:t>
                      </m:r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r>
                  <a:rPr lang="en-IN" b="1" dirty="0"/>
                  <a:t>Where: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b="1" dirty="0"/>
                  <a:t>Instruction Count (IC)</a:t>
                </a:r>
                <a:r>
                  <a:rPr lang="en-IN" dirty="0"/>
                  <a:t> → Number of instructions executed by program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b="1" dirty="0"/>
                  <a:t>CPI (Cycles Per Instruction)</a:t>
                </a:r>
                <a:r>
                  <a:rPr lang="en-IN" dirty="0"/>
                  <a:t> → Average cycles needed for one instruction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b="1" dirty="0"/>
                  <a:t>Clock Cycle Time</a:t>
                </a:r>
                <a:r>
                  <a:rPr lang="en-IN" dirty="0"/>
                  <a:t> → Time taken for one CPU cycle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94C287-841B-45F0-091F-54DDB80D0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3" y="3270354"/>
                <a:ext cx="6100916" cy="2308324"/>
              </a:xfrm>
              <a:prstGeom prst="rect">
                <a:avLst/>
              </a:prstGeom>
              <a:blipFill>
                <a:blip r:embed="rId2"/>
                <a:stretch>
                  <a:fillRect l="-799" t="-1583" b="-31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6968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B0750-955A-D56B-6C76-FE4335934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r>
              <a:rPr lang="en-IN" dirty="0"/>
              <a:t>Central Processing Unit (CPU)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50CBE24-8968-0B67-D983-E446A8890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509" y="1134183"/>
            <a:ext cx="650845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CPU is the brain of the computer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Responsible for executing instructions and controlling system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Performs arithmetic, logic, and data movement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with memory and input/output devices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E4B221-E1A1-09C0-D39D-B804F6FD0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175" y="2611511"/>
            <a:ext cx="7718322" cy="366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141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A9859-F3F3-D53D-7703-D3E3350A1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CPU </a:t>
            </a:r>
            <a:r>
              <a:rPr lang="en-IN" sz="3600" dirty="0"/>
              <a:t>Components</a:t>
            </a:r>
            <a:r>
              <a:rPr lang="en-IN" dirty="0"/>
              <a:t> and Functions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7944A68-91CE-E9FD-46CD-D61EB036B0B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1010" b="21010"/>
          <a:stretch>
            <a:fillRect/>
          </a:stretch>
        </p:blipFill>
        <p:spPr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rgbClr val="82FFFF">
                <a:lumMod val="60000"/>
                <a:lumOff val="40000"/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902AC-5009-AA38-04CE-B3EDCB7E2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ALU – Performs arithmetic and logical calculations Control Unit – Directs the operation of the processor Registers – Temporary storage for instructions and data Cache – Stores frequently used data for faster access</a:t>
            </a:r>
          </a:p>
          <a:p>
            <a:r>
              <a:rPr lang="en-US" dirty="0"/>
              <a:t>Functions:</a:t>
            </a:r>
          </a:p>
          <a:p>
            <a:r>
              <a:rPr lang="en-US" dirty="0"/>
              <a:t>Instruction processing</a:t>
            </a:r>
          </a:p>
          <a:p>
            <a:r>
              <a:rPr lang="en-US" dirty="0"/>
              <a:t>Data manipulation</a:t>
            </a:r>
          </a:p>
          <a:p>
            <a:r>
              <a:rPr lang="en-US" dirty="0"/>
              <a:t>System control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0797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3A0567-C616-ED6D-43D9-29E440AF4D14}"/>
              </a:ext>
            </a:extLst>
          </p:cNvPr>
          <p:cNvSpPr txBox="1"/>
          <p:nvPr/>
        </p:nvSpPr>
        <p:spPr>
          <a:xfrm>
            <a:off x="1455420" y="74414"/>
            <a:ext cx="610108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How a CPU Executes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A9A703-5F37-CA6F-7B42-66DF6A856FDF}"/>
              </a:ext>
            </a:extLst>
          </p:cNvPr>
          <p:cNvSpPr txBox="1"/>
          <p:nvPr/>
        </p:nvSpPr>
        <p:spPr>
          <a:xfrm>
            <a:off x="1455420" y="1125696"/>
            <a:ext cx="61010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Instruction cycle consists of four main stages:</a:t>
            </a:r>
          </a:p>
          <a:p>
            <a:pPr>
              <a:buFont typeface="+mj-lt"/>
              <a:buAutoNum type="arabicPeriod"/>
            </a:pPr>
            <a:r>
              <a:rPr lang="en-US" dirty="0"/>
              <a:t>Fetch – CPU retrieves instruction from memory</a:t>
            </a:r>
          </a:p>
          <a:p>
            <a:pPr>
              <a:buFont typeface="+mj-lt"/>
              <a:buAutoNum type="arabicPeriod"/>
            </a:pPr>
            <a:r>
              <a:rPr lang="en-US" dirty="0"/>
              <a:t>Decode – Control unit interprets the instruction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Execute – ALU performs the required operation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Store – Result is written back to memory or register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31258F-713E-5C9D-1783-6B8F64413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00" y="2603024"/>
            <a:ext cx="5715000" cy="406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388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A54A8B-6BE8-C426-370E-2C817320236D}"/>
              </a:ext>
            </a:extLst>
          </p:cNvPr>
          <p:cNvSpPr txBox="1"/>
          <p:nvPr/>
        </p:nvSpPr>
        <p:spPr>
          <a:xfrm>
            <a:off x="1313180" y="0"/>
            <a:ext cx="6101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CPU Performance Factors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9E010-9087-39B4-4F6A-A5127B2F750B}"/>
              </a:ext>
            </a:extLst>
          </p:cNvPr>
          <p:cNvSpPr txBox="1"/>
          <p:nvPr/>
        </p:nvSpPr>
        <p:spPr>
          <a:xfrm>
            <a:off x="1313180" y="782658"/>
            <a:ext cx="61010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Factors affecting CPU performance: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Clock speed (GHz)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Number of cores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Cache size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Instruction level parallelism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Memory bandwidth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Thermal management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B3DE2D-51DE-13C5-9D82-FC250E2515E7}"/>
                  </a:ext>
                </a:extLst>
              </p:cNvPr>
              <p:cNvSpPr txBox="1"/>
              <p:nvPr/>
            </p:nvSpPr>
            <p:spPr>
              <a:xfrm>
                <a:off x="1313180" y="2877224"/>
                <a:ext cx="6101080" cy="11667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CPU Performance Formula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𝑃𝑒𝑟𝑓𝑜𝑟𝑚𝑎𝑛𝑐𝑒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𝐸𝑥𝑒𝑐𝑢𝑡𝑖𝑜𝑛</m:t>
                          </m:r>
                          <m:r>
                            <m:rPr>
                              <m:nor/>
                            </m:rPr>
                            <a:rPr lang="ar-AE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𝑇𝑖𝑚𝑒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r>
                  <a:rPr lang="en-IN" dirty="0"/>
                  <a:t> Lower execution time = </a:t>
                </a:r>
                <a:r>
                  <a:rPr lang="en-IN" b="1" dirty="0"/>
                  <a:t>Better performance</a:t>
                </a:r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B3DE2D-51DE-13C5-9D82-FC250E251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180" y="2877224"/>
                <a:ext cx="6101080" cy="1166794"/>
              </a:xfrm>
              <a:prstGeom prst="rect">
                <a:avLst/>
              </a:prstGeom>
              <a:blipFill>
                <a:blip r:embed="rId2"/>
                <a:stretch>
                  <a:fillRect l="-799" t="-3665" b="-73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1EE590E-011D-7BCC-52FB-8C2C8A352EF8}"/>
                  </a:ext>
                </a:extLst>
              </p:cNvPr>
              <p:cNvSpPr txBox="1"/>
              <p:nvPr/>
            </p:nvSpPr>
            <p:spPr>
              <a:xfrm>
                <a:off x="1313180" y="4374683"/>
                <a:ext cx="6101080" cy="11667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CPU Performance Formula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𝑃𝑒𝑟𝑓𝑜𝑟𝑚𝑎𝑛𝑐𝑒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𝐸𝑥𝑒𝑐𝑢𝑡𝑖𝑜𝑛</m:t>
                          </m:r>
                          <m:r>
                            <m:rPr>
                              <m:nor/>
                            </m:rPr>
                            <a:rPr lang="ar-AE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𝑇𝑖𝑚𝑒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r>
                  <a:rPr lang="en-IN" dirty="0"/>
                  <a:t> Lower execution time = </a:t>
                </a:r>
                <a:r>
                  <a:rPr lang="en-IN" b="1" dirty="0"/>
                  <a:t>Better performance</a:t>
                </a:r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1EE590E-011D-7BCC-52FB-8C2C8A352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180" y="4374683"/>
                <a:ext cx="6101080" cy="1166794"/>
              </a:xfrm>
              <a:prstGeom prst="rect">
                <a:avLst/>
              </a:prstGeom>
              <a:blipFill>
                <a:blip r:embed="rId3"/>
                <a:stretch>
                  <a:fillRect l="-799" t="-3665" b="-73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F16BC4-5F5F-33AE-0917-EA855233D5C8}"/>
                  </a:ext>
                </a:extLst>
              </p:cNvPr>
              <p:cNvSpPr txBox="1"/>
              <p:nvPr/>
            </p:nvSpPr>
            <p:spPr>
              <a:xfrm>
                <a:off x="1313180" y="5541477"/>
                <a:ext cx="6101080" cy="11667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CPU Performance Formula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𝑃𝑒𝑟𝑓𝑜𝑟𝑚𝑎𝑛𝑐𝑒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𝐸𝑥𝑒𝑐𝑢𝑡𝑖𝑜𝑛</m:t>
                          </m:r>
                          <m:r>
                            <m:rPr>
                              <m:nor/>
                            </m:rPr>
                            <a:rPr lang="ar-AE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𝑇𝑖𝑚𝑒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r>
                  <a:rPr lang="en-IN" dirty="0"/>
                  <a:t> Lower execution time = </a:t>
                </a:r>
                <a:r>
                  <a:rPr lang="en-IN" b="1" dirty="0"/>
                  <a:t>Better performance</a:t>
                </a:r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F16BC4-5F5F-33AE-0917-EA855233D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180" y="5541477"/>
                <a:ext cx="6101080" cy="1166794"/>
              </a:xfrm>
              <a:prstGeom prst="rect">
                <a:avLst/>
              </a:prstGeom>
              <a:blipFill>
                <a:blip r:embed="rId4"/>
                <a:stretch>
                  <a:fillRect l="-799" t="-3141" b="-73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954956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337</TotalTime>
  <Words>760</Words>
  <Application>Microsoft Office PowerPoint</Application>
  <PresentationFormat>Widescreen</PresentationFormat>
  <Paragraphs>107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Cambria Math</vt:lpstr>
      <vt:lpstr>Times New Roman</vt:lpstr>
      <vt:lpstr>Trebuchet MS</vt:lpstr>
      <vt:lpstr>Wingdings 3</vt:lpstr>
      <vt:lpstr>Facet</vt:lpstr>
      <vt:lpstr>Understanding Computer Architecture</vt:lpstr>
      <vt:lpstr>PowerPoint Presentation</vt:lpstr>
      <vt:lpstr>Overview of Computer Architecture</vt:lpstr>
      <vt:lpstr>Importance in Software Development </vt:lpstr>
      <vt:lpstr>Basic Terminology</vt:lpstr>
      <vt:lpstr>Historical Development of Computer Architectures</vt:lpstr>
      <vt:lpstr>RISC vs CISC Architectures</vt:lpstr>
      <vt:lpstr>PowerPoint Presentation</vt:lpstr>
      <vt:lpstr>Pipeline Processing </vt:lpstr>
      <vt:lpstr>Computer Arithmetic and ALU Design </vt:lpstr>
      <vt:lpstr>Virtual Memory and Paging Systems </vt:lpstr>
      <vt:lpstr>Benchmarking and Performance Metrics </vt:lpstr>
      <vt:lpstr>Central Processing Unit (CPU)</vt:lpstr>
      <vt:lpstr>CPU Components and Functions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3</cp:revision>
  <dcterms:created xsi:type="dcterms:W3CDTF">2026-03-26T04:44:01Z</dcterms:created>
  <dcterms:modified xsi:type="dcterms:W3CDTF">2026-04-12T12:22:16Z</dcterms:modified>
</cp:coreProperties>
</file>